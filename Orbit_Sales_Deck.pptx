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900" b="0" i="0" u="none" strike="noStrike">
                <a:solidFill>
                  <a:srgbClr val="B0B8C4"/>
                </a:solidFill>
                <a:latin typeface="Arial"/>
              </a:defRPr>
            </a:pPr>
            <a:r>
              <a:rPr sz="900" b="0" i="0" u="none" strike="noStrike">
                <a:solidFill>
                  <a:srgbClr val="B0B8C4"/>
                </a:solidFill>
                <a:latin typeface="Arial"/>
              </a:rPr>
              <a:t>Annual Giving Revenue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Orbit</c:v>
                </c:pt>
              </c:strCache>
            </c:strRef>
          </c:tx>
          <c:spPr>
            <a:solidFill>
              <a:srgbClr val="2D374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8FA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Year 0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735000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Orbit</c:v>
                </c:pt>
              </c:strCache>
            </c:strRef>
          </c:tx>
          <c:spPr>
            <a:solidFill>
              <a:srgbClr val="00D4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8FA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Year 1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3310000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8FA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2D37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B0B8C4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-1371600"/>
            <a:ext cx="6400800" cy="6400800"/>
          </a:xfrm>
          <a:prstGeom prst="ellipse">
            <a:avLst/>
          </a:prstGeom>
          <a:solidFill>
            <a:srgbClr val="00D4B8">
              <a:alpha val="6000"/>
            </a:srgbClr>
          </a:solidFill>
          <a:ln w="12700">
            <a:solidFill>
              <a:srgbClr val="00D4B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1828800"/>
            <a:ext cx="4572000" cy="4572000"/>
          </a:xfrm>
          <a:prstGeom prst="ellipse">
            <a:avLst/>
          </a:prstGeom>
          <a:solidFill>
            <a:srgbClr val="F0B429">
              <a:alpha val="4000"/>
            </a:srgbClr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0" y="2011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· 2026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11480" y="557784"/>
            <a:ext cx="201168" cy="22860"/>
          </a:xfrm>
          <a:prstGeom prst="rect">
            <a:avLst/>
          </a:prstGeom>
          <a:solidFill>
            <a:srgbClr val="00D4B8"/>
          </a:solidFill>
          <a:ln w="12700">
            <a:solidFill>
              <a:srgbClr val="00D4B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5029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FUTURE OF UNIVERSITY ADVANCEMENT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8229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if every donor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200" b="1" i="1" dirty="0">
                <a:solidFill>
                  <a:srgbClr val="00D4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felt like your only donor?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11480" y="2029968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deploys four AI officers that cultivate, steward,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close gifts across your entire donor base —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simultaneously, personally, at scale.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907792"/>
            <a:ext cx="2331720" cy="274320"/>
          </a:xfrm>
          <a:prstGeom prst="rect">
            <a:avLst/>
          </a:prstGeom>
          <a:solidFill>
            <a:srgbClr val="0D2E2B"/>
          </a:solidFill>
          <a:ln w="12700">
            <a:solidFill>
              <a:srgbClr val="00D4B8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44368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 · Engagement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26080" y="2907792"/>
            <a:ext cx="2331720" cy="274320"/>
          </a:xfrm>
          <a:prstGeom prst="rect">
            <a:avLst/>
          </a:prstGeom>
          <a:solidFill>
            <a:srgbClr val="2E2410"/>
          </a:solidFill>
          <a:ln w="12700">
            <a:solidFill>
              <a:srgbClr val="F0B429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2944368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VSO · Stewardship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273552"/>
            <a:ext cx="2331720" cy="274320"/>
          </a:xfrm>
          <a:prstGeom prst="rect">
            <a:avLst/>
          </a:prstGeom>
          <a:solidFill>
            <a:srgbClr val="1E1B2E"/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10128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VPGO · Planned Giving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26080" y="3273552"/>
            <a:ext cx="2331720" cy="274320"/>
          </a:xfrm>
          <a:prstGeom prst="rect">
            <a:avLst/>
          </a:prstGeom>
          <a:solidFill>
            <a:srgbClr val="2E1515"/>
          </a:solidFill>
          <a:ln w="12700">
            <a:solidFill>
              <a:srgbClr val="FF6B6B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3310128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VCO · Campaigns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37960" y="777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00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$4.2M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537960" y="13990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unrealized giving</a:t>
            </a:r>
            <a:endParaRPr lang="en-US" sz="900" dirty="0"/>
          </a:p>
          <a:p>
            <a:pPr algn="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per institution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37960" y="213055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00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96.2%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6537960" y="275234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retention rate</a:t>
            </a:r>
            <a:endParaRPr lang="en-US" sz="900" dirty="0"/>
          </a:p>
          <a:p>
            <a:pPr algn="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pilot institutions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37960" y="3483864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00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8.4×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6537960" y="410565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Orbit</a:t>
            </a:r>
            <a:endParaRPr lang="en-US" sz="900" dirty="0"/>
          </a:p>
          <a:p>
            <a:pPr algn="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— Year 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D4B8">
              <a:alpha val="35000"/>
            </a:srgbClr>
          </a:solidFill>
          <a:ln w="12700">
            <a:solidFill>
              <a:srgbClr val="00D4B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Orbit Advancement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FF6B6B">
              <a:alpha val="6000"/>
            </a:srgbClr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47472"/>
            <a:ext cx="201168" cy="228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29260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team is working harder</a:t>
            </a:r>
            <a:endParaRPr lang="en-US" sz="2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 ever. And still losing.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53619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of modern advancement is broken — and it's not your team's fault.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01952"/>
            <a:ext cx="448056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54864" cy="594360"/>
          </a:xfrm>
          <a:prstGeom prst="rect">
            <a:avLst/>
          </a:prstGeom>
          <a:solidFill>
            <a:srgbClr val="FF6B6B">
              <a:alpha val="60000"/>
            </a:srgbClr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965960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donors per officer — maximum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0352" y="221284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proven ceiling for meaningful cultivation. With 5,000 donors, 97% are on autopilot.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2596896"/>
            <a:ext cx="448056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914400"/>
            <a:ext cx="54864" cy="594360"/>
          </a:xfrm>
          <a:prstGeom prst="rect">
            <a:avLst/>
          </a:prstGeom>
          <a:solidFill>
            <a:srgbClr val="FF6B6B">
              <a:alpha val="60000"/>
            </a:srgbClr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660904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of lapsed donors felt forgotten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0352" y="290779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unhappy — just invisible. They would have given again if someone had simply reached out.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3291840"/>
            <a:ext cx="448056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914400"/>
            <a:ext cx="54864" cy="594360"/>
          </a:xfrm>
          <a:prstGeom prst="rect">
            <a:avLst/>
          </a:prstGeom>
          <a:solidFill>
            <a:srgbClr val="FF6B6B">
              <a:alpha val="60000"/>
            </a:srgbClr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355848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matching gifts go unclaimed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0352" y="360273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Donors' employers will double their gift — but no one is asking. Pure revenue left on the 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986784"/>
            <a:ext cx="448056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914400"/>
            <a:ext cx="54864" cy="594360"/>
          </a:xfrm>
          <a:prstGeom prst="rect">
            <a:avLst/>
          </a:prstGeom>
          <a:solidFill>
            <a:srgbClr val="FF6B6B">
              <a:alpha val="60000"/>
            </a:srgbClr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4050792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hours per donor brief — manual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0352" y="429768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spend most of their time preparing to connect, rather than actually connecting.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74920" y="1901952"/>
            <a:ext cx="1719072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6B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184648" y="1993392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97%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184648" y="2478024"/>
            <a:ext cx="1499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donors receiving no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outreach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995160" y="1901952"/>
            <a:ext cx="1719072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6B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104888" y="1993392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$4.2M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7104888" y="2478024"/>
            <a:ext cx="1499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unrealized giving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per institution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74920" y="3182112"/>
            <a:ext cx="1719072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6B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184648" y="3273552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$68T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5184648" y="3758184"/>
            <a:ext cx="1499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intergenerational wealth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underway now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995160" y="3182112"/>
            <a:ext cx="1719072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6B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104888" y="3273552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63%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7104888" y="3758184"/>
            <a:ext cx="1499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lapsed donors cited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recent contact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D4B8">
              <a:alpha val="35000"/>
            </a:srgbClr>
          </a:solidFill>
          <a:ln w="12700">
            <a:solidFill>
              <a:srgbClr val="00D4B8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Orbit Advancement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0"/>
            <a:ext cx="6400800" cy="6400800"/>
          </a:xfrm>
          <a:prstGeom prst="ellipse">
            <a:avLst/>
          </a:prstGeom>
          <a:solidFill>
            <a:srgbClr val="00D4B8">
              <a:alpha val="5000"/>
            </a:srgbClr>
          </a:solidFill>
          <a:ln w="12700">
            <a:solidFill>
              <a:srgbClr val="00D4B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47472"/>
            <a:ext cx="201168" cy="22860"/>
          </a:xfrm>
          <a:prstGeom prst="rect">
            <a:avLst/>
          </a:prstGeom>
          <a:solidFill>
            <a:srgbClr val="00D4B8"/>
          </a:solidFill>
          <a:ln w="12700">
            <a:solidFill>
              <a:srgbClr val="00D4B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29260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AI officers. Every donor.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i="1" dirty="0">
                <a:solidFill>
                  <a:srgbClr val="00D4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the time.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6642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doesn't replace your team — it gives each officer a tireless AI partner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handles cultivation, stewardship, and research at scale.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240280"/>
            <a:ext cx="2011680" cy="2606040"/>
          </a:xfrm>
          <a:prstGeom prst="rect">
            <a:avLst/>
          </a:prstGeom>
          <a:solidFill>
            <a:srgbClr val="0D2E2B"/>
          </a:solidFill>
          <a:ln w="12700">
            <a:solidFill>
              <a:srgbClr val="00D4B8">
                <a:alpha val="55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240280"/>
            <a:ext cx="2011680" cy="64008"/>
          </a:xfrm>
          <a:prstGeom prst="rect">
            <a:avLst/>
          </a:prstGeom>
          <a:solidFill>
            <a:srgbClr val="00D4B8">
              <a:alpha val="75000"/>
            </a:srgbClr>
          </a:solidFill>
          <a:ln w="12700">
            <a:solidFill>
              <a:srgbClr val="00D4B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340864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2560320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Engagement Officer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2907792"/>
            <a:ext cx="17922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Cultivates 1,847 major gift prospects. Monitors wealth signals, career moves, and life events. Surfaces the exact moment to ask.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4553712"/>
            <a:ext cx="17922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1,847 donors · Major Gifts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50592" y="2240280"/>
            <a:ext cx="2011680" cy="2606040"/>
          </a:xfrm>
          <a:prstGeom prst="rect">
            <a:avLst/>
          </a:prstGeom>
          <a:solidFill>
            <a:srgbClr val="2E2410"/>
          </a:solidFill>
          <a:ln w="12700">
            <a:solidFill>
              <a:srgbClr val="F0B429">
                <a:alpha val="55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50592" y="2240280"/>
            <a:ext cx="2011680" cy="64008"/>
          </a:xfrm>
          <a:prstGeom prst="rect">
            <a:avLst/>
          </a:prstGeom>
          <a:solidFill>
            <a:srgbClr val="F0B429">
              <a:alpha val="75000"/>
            </a:srgbClr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2340864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2560320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Stewardship Officer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60320" y="2907792"/>
            <a:ext cx="17922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every donor feels their gift's impact. Generates personalized impact reports, stewardship calendars, and thank-you communications.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560320" y="4553712"/>
            <a:ext cx="17922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3,263 donors · Stewardship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26864" y="2240280"/>
            <a:ext cx="2011680" cy="2606040"/>
          </a:xfrm>
          <a:prstGeom prst="rect">
            <a:avLst/>
          </a:prstGeom>
          <a:solidFill>
            <a:srgbClr val="1E1B2E"/>
          </a:solidFill>
          <a:ln w="12700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26864" y="2240280"/>
            <a:ext cx="2011680" cy="64008"/>
          </a:xfrm>
          <a:prstGeom prst="rect">
            <a:avLst/>
          </a:prstGeom>
          <a:solidFill>
            <a:srgbClr val="A78BFA">
              <a:alpha val="75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2340864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VPGO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36592" y="2560320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Planned Giving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36592" y="2907792"/>
            <a:ext cx="17922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planned giving prospects from behavioral signals. Writes will clauses, gift intent forms, and opens legacy conversations with precision.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36592" y="4553712"/>
            <a:ext cx="17922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 prospects · Legacy Gifts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03136" y="2240280"/>
            <a:ext cx="2011680" cy="2606040"/>
          </a:xfrm>
          <a:prstGeom prst="rect">
            <a:avLst/>
          </a:prstGeom>
          <a:solidFill>
            <a:srgbClr val="2E1515"/>
          </a:solidFill>
          <a:ln w="12700">
            <a:solidFill>
              <a:srgbClr val="FF6B6B">
                <a:alpha val="55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03136" y="2240280"/>
            <a:ext cx="2011680" cy="64008"/>
          </a:xfrm>
          <a:prstGeom prst="rect">
            <a:avLst/>
          </a:prstGeom>
          <a:solidFill>
            <a:srgbClr val="FF6B6B">
              <a:alpha val="75000"/>
            </a:srgbClr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12864" y="2340864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12864" y="2560320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Campaign Officer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912864" y="2907792"/>
            <a:ext cx="17922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giving days and year-end campaigns with real-time optimization. Writes personalized push messages to thousands of donors simultaneously.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912864" y="4553712"/>
            <a:ext cx="17922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base · Campaigns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solidFill>
            <a:srgbClr val="0D2E2B"/>
          </a:solidFill>
          <a:ln w="12700">
            <a:solidFill>
              <a:srgbClr val="00D4B8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81888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Every communication is generated from the donor's individual history — in your institution's voice, signed by your officer's name. Not automation. Relationship at scale.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D4B8">
              <a:alpha val="35000"/>
            </a:srgbClr>
          </a:solidFill>
          <a:ln w="12700">
            <a:solidFill>
              <a:srgbClr val="00D4B8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Orbit Advancement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-914400"/>
            <a:ext cx="6400800" cy="6400800"/>
          </a:xfrm>
          <a:prstGeom prst="ellipse">
            <a:avLst/>
          </a:prstGeom>
          <a:solidFill>
            <a:srgbClr val="38BDF8">
              <a:alpha val="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47472"/>
            <a:ext cx="201168" cy="228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29260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layer.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i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automation.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6276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platforms automate tasks. Orbit understands relationships.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3931920" cy="548640"/>
          </a:xfrm>
          <a:prstGeom prst="rect">
            <a:avLst/>
          </a:prstGeom>
          <a:solidFill>
            <a:srgbClr val="0D2E2B"/>
          </a:solidFill>
          <a:ln w="12700">
            <a:solidFill>
              <a:srgbClr val="00D4B8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756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4: AI Agents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3042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 · VSO · VPGO · VCO — autonomous action, human voice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2651760"/>
            <a:ext cx="3931920" cy="548640"/>
          </a:xfrm>
          <a:prstGeom prst="rect">
            <a:avLst/>
          </a:prstGeom>
          <a:solidFill>
            <a:srgbClr val="0C1E2E"/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7157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Ask Engine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9443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ML-powered ask modeling — right amount, right moment, every donor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3931920" cy="548640"/>
          </a:xfrm>
          <a:prstGeom prst="rect">
            <a:avLst/>
          </a:prstGeom>
          <a:solidFill>
            <a:srgbClr val="1E1B2E"/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558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Signal Intelligence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5844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signals, career moves, life events, engagement scoring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3931920"/>
            <a:ext cx="3931920" cy="548640"/>
          </a:xfrm>
          <a:prstGeom prst="rect">
            <a:avLst/>
          </a:prstGeom>
          <a:solidFill>
            <a:srgbClr val="111827"/>
          </a:solidFill>
          <a:ln w="12700">
            <a:solidFill>
              <a:srgbClr val="6B7280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9959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CRM Sync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2245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Bi-directional Salesforce NPSP · HubSpot · Blackbaud RE NXT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63440" y="192024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DAY IN ORBIT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63440" y="2194560"/>
            <a:ext cx="420624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194560"/>
            <a:ext cx="54864" cy="566928"/>
          </a:xfrm>
          <a:prstGeom prst="rect">
            <a:avLst/>
          </a:prstGeom>
          <a:solidFill>
            <a:srgbClr val="00D4B8">
              <a:alpha val="70000"/>
            </a:srgbClr>
          </a:solidFill>
          <a:ln w="12700">
            <a:solidFill>
              <a:srgbClr val="00D4B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2249424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7:00 AM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49824" y="224028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 detects Dr. Morrison moved to a new C-suite role. Alerts her officer. Drafts congratulatory message — no ask, just relationship.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2862072"/>
            <a:ext cx="420624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862072"/>
            <a:ext cx="54864" cy="566928"/>
          </a:xfrm>
          <a:prstGeom prst="rect">
            <a:avLst/>
          </a:prstGeom>
          <a:solidFill>
            <a:srgbClr val="F0B429">
              <a:alpha val="70000"/>
            </a:srgbClr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2916936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9:15 AM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49824" y="290779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VSO sends Thomas Whitfield a personalized impact report showing exactly how his $50K gift funded 3 student scholarships.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3529584"/>
            <a:ext cx="420624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529584"/>
            <a:ext cx="54864" cy="566928"/>
          </a:xfrm>
          <a:prstGeom prst="rect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3584448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2:30 PM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49824" y="357530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VPGO flags Robert Chen as top planned giving prospect — estate attorney search + 28-year giving history. Drafts opener for officer.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4197096"/>
            <a:ext cx="420624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4197096"/>
            <a:ext cx="54864" cy="566928"/>
          </a:xfrm>
          <a:prstGeom prst="rect">
            <a:avLst/>
          </a:prstGeom>
          <a:solidFill>
            <a:srgbClr val="FF6B6B">
              <a:alpha val="70000"/>
            </a:srgbClr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4251960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11:59 PM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49824" y="4242816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VCO sends 847 personalized giving day messages. Open rate: 68%. 312 donors give. $284,000 raised. Your team slept through it.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D4B8">
              <a:alpha val="35000"/>
            </a:srgbClr>
          </a:solidFill>
          <a:ln w="12700">
            <a:solidFill>
              <a:srgbClr val="00D4B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Orbit Advancement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2960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7315200" cy="7315200"/>
          </a:xfrm>
          <a:prstGeom prst="ellipse">
            <a:avLst/>
          </a:prstGeom>
          <a:solidFill>
            <a:srgbClr val="10B981">
              <a:alpha val="4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47472"/>
            <a:ext cx="201168" cy="228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29260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 RESULTS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Numbers that move the board.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2070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data from Greenfield University — 5,107 donors, 8 advancement officers, Year 1.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269748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>
                <a:alpha val="58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72768"/>
            <a:ext cx="2697480" cy="64008"/>
          </a:xfrm>
          <a:prstGeom prst="rect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664208"/>
            <a:ext cx="24780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+34%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29768" y="2221992"/>
            <a:ext cx="2478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Active Donors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2468880"/>
            <a:ext cx="2478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3,847 to 5,155 donors engaged — same team, same budget, different technology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0" y="1572768"/>
            <a:ext cx="269748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B8">
                <a:alpha val="58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572768"/>
            <a:ext cx="2697480" cy="64008"/>
          </a:xfrm>
          <a:prstGeom prst="rect">
            <a:avLst/>
          </a:prstGeom>
          <a:solidFill>
            <a:srgbClr val="00D4B8">
              <a:alpha val="75000"/>
            </a:srgbClr>
          </a:solidFill>
          <a:ln w="12700">
            <a:solidFill>
              <a:srgbClr val="00D4B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664208"/>
            <a:ext cx="24780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2.4×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310128" y="2221992"/>
            <a:ext cx="2478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Gift Increase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10128" y="2468880"/>
            <a:ext cx="2478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Engine precision — right amount modeled for each donor based on capacity and engagement score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80760" y="1572768"/>
            <a:ext cx="269748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F0B429">
                <a:alpha val="58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572768"/>
            <a:ext cx="2697480" cy="64008"/>
          </a:xfrm>
          <a:prstGeom prst="rect">
            <a:avLst/>
          </a:prstGeom>
          <a:solidFill>
            <a:srgbClr val="F0B429">
              <a:alpha val="75000"/>
            </a:srgbClr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0488" y="1664208"/>
            <a:ext cx="24780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96.2%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190488" y="2221992"/>
            <a:ext cx="2478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Retention Rate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90488" y="2468880"/>
            <a:ext cx="2478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71% pre-Orbit. National average: 74%. Driven by VSO stewardship and lapse prevention.</a:t>
            </a:r>
            <a:endParaRPr lang="en-US" sz="8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320040" y="3090672"/>
          <a:ext cx="411480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4663440" y="3090672"/>
            <a:ext cx="201168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791456" y="3182112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$4.1M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4791456" y="3584448"/>
            <a:ext cx="1755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revenue Year 1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812280" y="3090672"/>
            <a:ext cx="201168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940296" y="3182112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$612K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6940296" y="3584448"/>
            <a:ext cx="1755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giving pipeline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663440" y="4133088"/>
            <a:ext cx="201168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4791456" y="4224528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68%</a:t>
            </a:r>
            <a:endParaRPr lang="en-US" sz="2400" dirty="0"/>
          </a:p>
        </p:txBody>
      </p:sp>
      <p:sp>
        <p:nvSpPr>
          <p:cNvPr id="31" name="Text 28"/>
          <p:cNvSpPr/>
          <p:nvPr/>
        </p:nvSpPr>
        <p:spPr>
          <a:xfrm>
            <a:off x="4791456" y="4626864"/>
            <a:ext cx="1755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open rate (AI)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812280" y="4133088"/>
            <a:ext cx="201168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940296" y="4224528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hrs</a:t>
            </a:r>
            <a:endParaRPr lang="en-US" sz="2400" dirty="0"/>
          </a:p>
        </p:txBody>
      </p:sp>
      <p:sp>
        <p:nvSpPr>
          <p:cNvPr id="34" name="Text 31"/>
          <p:cNvSpPr/>
          <p:nvPr/>
        </p:nvSpPr>
        <p:spPr>
          <a:xfrm>
            <a:off x="6940296" y="4626864"/>
            <a:ext cx="1755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officer/day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D4B8">
              <a:alpha val="35000"/>
            </a:srgbClr>
          </a:solidFill>
          <a:ln w="12700">
            <a:solidFill>
              <a:srgbClr val="00D4B8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Orbit Advancement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822960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914400"/>
            <a:ext cx="5486400" cy="5486400"/>
          </a:xfrm>
          <a:prstGeom prst="ellipse">
            <a:avLst/>
          </a:prstGeom>
          <a:solidFill>
            <a:srgbClr val="00D4B8">
              <a:alpha val="4000"/>
            </a:srgbClr>
          </a:solidFill>
          <a:ln w="12700">
            <a:solidFill>
              <a:srgbClr val="00D4B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47472"/>
            <a:ext cx="201168" cy="22860"/>
          </a:xfrm>
          <a:prstGeom prst="rect">
            <a:avLst/>
          </a:prstGeom>
          <a:solidFill>
            <a:srgbClr val="00D4B8"/>
          </a:solidFill>
          <a:ln w="12700">
            <a:solidFill>
              <a:srgbClr val="00D4B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29260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ROI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Orbit mean</a:t>
            </a:r>
            <a:endParaRPr lang="en-US" sz="2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your institution?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5361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projection: 5,000 donors · $285 avg gift · 72% retention · 8 officers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901952"/>
          <a:ext cx="5303520" cy="2907792"/>
        </p:xfrm>
        <a:graphic>
          <a:graphicData uri="http://schemas.openxmlformats.org/drawingml/2006/table">
            <a:tbl>
              <a:tblPr/>
              <a:tblGrid>
                <a:gridCol w="1920240"/>
                <a:gridCol w="1143000"/>
                <a:gridCol w="1143000"/>
                <a:gridCol w="109728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6B72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Metric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6B72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Before Orbit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6B72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With Orbit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6B72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Change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0B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Donors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D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ED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2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0B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Gift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D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$684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ED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+2.4×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2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0B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D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ED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2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0B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 Gifts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D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$268K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ED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Revenue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2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0B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Revenue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$735K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D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$3.31M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ED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+$2.58M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2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852160" y="1901952"/>
            <a:ext cx="297180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B8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52160" y="1901952"/>
            <a:ext cx="2971800" cy="64008"/>
          </a:xfrm>
          <a:prstGeom prst="rect">
            <a:avLst/>
          </a:prstGeom>
          <a:solidFill>
            <a:srgbClr val="00D4B8">
              <a:alpha val="75000"/>
            </a:srgbClr>
          </a:solidFill>
          <a:ln w="12700">
            <a:solidFill>
              <a:srgbClr val="00D4B8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89320" y="199339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0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NEW REVENUE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89320" y="221284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+$2.58M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5989320" y="290779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· 5,000-donor institution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852160" y="3383280"/>
            <a:ext cx="1444752" cy="1389888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B8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89320" y="3456432"/>
            <a:ext cx="1170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0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ROI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989320" y="3675888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8.4×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5989320" y="4169664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406640" y="3383280"/>
            <a:ext cx="1417320" cy="1389888"/>
          </a:xfrm>
          <a:prstGeom prst="rect">
            <a:avLst/>
          </a:prstGeom>
          <a:solidFill>
            <a:srgbClr val="111827"/>
          </a:solidFill>
          <a:ln w="12700">
            <a:solidFill>
              <a:srgbClr val="F0B429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534656" y="345643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534656" y="365760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$1,299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534656" y="402336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plan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D4B8">
              <a:alpha val="35000"/>
            </a:srgbClr>
          </a:solidFill>
          <a:ln w="12700">
            <a:solidFill>
              <a:srgbClr val="00D4B8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Orbit Advancement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22960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0"/>
            <a:ext cx="7315200" cy="7315200"/>
          </a:xfrm>
          <a:prstGeom prst="ellipse">
            <a:avLst/>
          </a:prstGeom>
          <a:solidFill>
            <a:srgbClr val="A78BFA">
              <a:alpha val="4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47472"/>
            <a:ext cx="201168" cy="228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29260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ORBIT WINS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another CRM.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i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new category.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6276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platform automates administration. Orbit automates relationships.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965960"/>
          <a:ext cx="8503920" cy="914400"/>
        </p:xfrm>
        <a:graphic>
          <a:graphicData uri="http://schemas.openxmlformats.org/drawingml/2006/table">
            <a:tbl>
              <a:tblPr/>
              <a:tblGrid>
                <a:gridCol w="6400800"/>
                <a:gridCol w="1051560"/>
                <a:gridCol w="10515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6B72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Capability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D4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Orbit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E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Others*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3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0B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AI-generated 1:1 donor communications at scale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F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82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0B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Autonomous agents acting 24/7 on your behalf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3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0B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ML-powered ask modeling per donor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F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82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0B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Wealth signal monitoring (career, life events)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3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0B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giving conversation intelligence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F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82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0B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 gift auto-identification and outreach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0B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3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0B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Officer briefings generated before every call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F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82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0B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Bi-directional CRM sync (Salesforce, Blackbaud)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53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0B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FERPA-compliant audit trail + SOC 2 roadmap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F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0B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773168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Salesforce NPSP, Blackbaud RE NXT, EverTrue, Gravyty, CampusWorks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D4B8">
              <a:alpha val="35000"/>
            </a:srgbClr>
          </a:solidFill>
          <a:ln w="12700">
            <a:solidFill>
              <a:srgbClr val="00D4B8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Orbit Advancement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0"/>
            <a:ext cx="7315200" cy="7315200"/>
          </a:xfrm>
          <a:prstGeom prst="ellipse">
            <a:avLst/>
          </a:prstGeom>
          <a:solidFill>
            <a:srgbClr val="38BDF8">
              <a:alpha val="4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47472"/>
            <a:ext cx="201168" cy="228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29260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&amp; COMPLIANCE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Enterprise-grade trust.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i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day one.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compliance requirements of higher education — not retrofitted for them.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93852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SECURITY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2176272"/>
            <a:ext cx="26517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176272"/>
            <a:ext cx="45720" cy="329184"/>
          </a:xfrm>
          <a:prstGeom prst="rect">
            <a:avLst/>
          </a:prstGeom>
          <a:solidFill>
            <a:srgbClr val="38BDF8">
              <a:alpha val="6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240280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 at rest and in transit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578608"/>
            <a:ext cx="2651760" cy="329184"/>
          </a:xfrm>
          <a:prstGeom prst="rect">
            <a:avLst/>
          </a:prstGeom>
          <a:solidFill>
            <a:srgbClr val="1A2535"/>
          </a:solidFill>
          <a:ln w="12700">
            <a:solidFill>
              <a:srgbClr val="2D3748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578608"/>
            <a:ext cx="45720" cy="329184"/>
          </a:xfrm>
          <a:prstGeom prst="rect">
            <a:avLst/>
          </a:prstGeom>
          <a:solidFill>
            <a:srgbClr val="38BDF8">
              <a:alpha val="6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2642616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— data never trains AI models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980944"/>
            <a:ext cx="26517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980944"/>
            <a:ext cx="45720" cy="329184"/>
          </a:xfrm>
          <a:prstGeom prst="rect">
            <a:avLst/>
          </a:prstGeom>
          <a:solidFill>
            <a:srgbClr val="38BDF8">
              <a:alpha val="6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3044952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hash-chained audit log (tamper-evident)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3383280"/>
            <a:ext cx="2651760" cy="329184"/>
          </a:xfrm>
          <a:prstGeom prst="rect">
            <a:avLst/>
          </a:prstGeom>
          <a:solidFill>
            <a:srgbClr val="1A2535"/>
          </a:solidFill>
          <a:ln w="12700">
            <a:solidFill>
              <a:srgbClr val="2D3748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383280"/>
            <a:ext cx="45720" cy="329184"/>
          </a:xfrm>
          <a:prstGeom prst="rect">
            <a:avLst/>
          </a:prstGeom>
          <a:solidFill>
            <a:srgbClr val="38BDF8">
              <a:alpha val="6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447288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 roadmap — Q4 2026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3785616"/>
            <a:ext cx="26517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785616"/>
            <a:ext cx="45720" cy="329184"/>
          </a:xfrm>
          <a:prstGeom prst="rect">
            <a:avLst/>
          </a:prstGeom>
          <a:solidFill>
            <a:srgbClr val="38BDF8">
              <a:alpha val="6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849624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(4 permission tiers)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4187952"/>
            <a:ext cx="2651760" cy="329184"/>
          </a:xfrm>
          <a:prstGeom prst="rect">
            <a:avLst/>
          </a:prstGeom>
          <a:solidFill>
            <a:srgbClr val="1A2535"/>
          </a:solidFill>
          <a:ln w="12700">
            <a:solidFill>
              <a:srgbClr val="2D3748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187952"/>
            <a:ext cx="45720" cy="329184"/>
          </a:xfrm>
          <a:prstGeom prst="rect">
            <a:avLst/>
          </a:prstGeom>
          <a:solidFill>
            <a:srgbClr val="38BDF8">
              <a:alpha val="6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4251960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isolation — data never commingled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00400" y="193852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COMPLIANCE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0" y="2176272"/>
            <a:ext cx="26517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2176272"/>
            <a:ext cx="45720" cy="329184"/>
          </a:xfrm>
          <a:prstGeom prst="rect">
            <a:avLst/>
          </a:prstGeom>
          <a:solidFill>
            <a:srgbClr val="F0B429">
              <a:alpha val="65000"/>
            </a:srgbClr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0128" y="2240280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FERPA compliance built into data architecture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0" y="2578608"/>
            <a:ext cx="2651760" cy="329184"/>
          </a:xfrm>
          <a:prstGeom prst="rect">
            <a:avLst/>
          </a:prstGeom>
          <a:solidFill>
            <a:srgbClr val="1A2535"/>
          </a:solidFill>
          <a:ln w="12700">
            <a:solidFill>
              <a:srgbClr val="2D3748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2578608"/>
            <a:ext cx="45720" cy="329184"/>
          </a:xfrm>
          <a:prstGeom prst="rect">
            <a:avLst/>
          </a:prstGeom>
          <a:solidFill>
            <a:srgbClr val="F0B429">
              <a:alpha val="65000"/>
            </a:srgbClr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0128" y="2642616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GDPR-ready — consent management, right to erasure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0" y="2980944"/>
            <a:ext cx="26517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2980944"/>
            <a:ext cx="45720" cy="329184"/>
          </a:xfrm>
          <a:prstGeom prst="rect">
            <a:avLst/>
          </a:prstGeom>
          <a:solidFill>
            <a:srgbClr val="F0B429">
              <a:alpha val="65000"/>
            </a:srgbClr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10128" y="3044952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Disclosure banner — transparent to all donors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0" y="3383280"/>
            <a:ext cx="2651760" cy="329184"/>
          </a:xfrm>
          <a:prstGeom prst="rect">
            <a:avLst/>
          </a:prstGeom>
          <a:solidFill>
            <a:srgbClr val="1A2535"/>
          </a:solidFill>
          <a:ln w="12700">
            <a:solidFill>
              <a:srgbClr val="2D3748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3383280"/>
            <a:ext cx="45720" cy="329184"/>
          </a:xfrm>
          <a:prstGeom prst="rect">
            <a:avLst/>
          </a:prstGeom>
          <a:solidFill>
            <a:srgbClr val="F0B429">
              <a:alpha val="65000"/>
            </a:srgbClr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10128" y="3447288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CCPA compliant — California Privacy Rights Act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00400" y="3785616"/>
            <a:ext cx="26517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3785616"/>
            <a:ext cx="45720" cy="329184"/>
          </a:xfrm>
          <a:prstGeom prst="rect">
            <a:avLst/>
          </a:prstGeom>
          <a:solidFill>
            <a:srgbClr val="F0B429">
              <a:alpha val="65000"/>
            </a:srgbClr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10128" y="3849624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 available with Anthropic AI provider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00400" y="4187952"/>
            <a:ext cx="2651760" cy="329184"/>
          </a:xfrm>
          <a:prstGeom prst="rect">
            <a:avLst/>
          </a:prstGeom>
          <a:solidFill>
            <a:srgbClr val="1A2535"/>
          </a:solidFill>
          <a:ln w="12700">
            <a:solidFill>
              <a:srgbClr val="2D3748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187952"/>
            <a:ext cx="45720" cy="329184"/>
          </a:xfrm>
          <a:prstGeom prst="rect">
            <a:avLst/>
          </a:prstGeom>
          <a:solidFill>
            <a:srgbClr val="F0B429">
              <a:alpha val="65000"/>
            </a:srgbClr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10128" y="4251960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penetration test (vendor contracted)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080760" y="193852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RELIABILITY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080760" y="2176272"/>
            <a:ext cx="26517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80760" y="2176272"/>
            <a:ext cx="45720" cy="329184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90488" y="2240280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uptime SLA guaranteed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080760" y="2578608"/>
            <a:ext cx="2651760" cy="329184"/>
          </a:xfrm>
          <a:prstGeom prst="rect">
            <a:avLst/>
          </a:prstGeom>
          <a:solidFill>
            <a:srgbClr val="1A2535"/>
          </a:solidFill>
          <a:ln w="12700">
            <a:solidFill>
              <a:srgbClr val="2D3748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80760" y="2578608"/>
            <a:ext cx="45720" cy="329184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90488" y="2642616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daily backups — 30-day retention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080760" y="2980944"/>
            <a:ext cx="26517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80760" y="2980944"/>
            <a:ext cx="45720" cy="329184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90488" y="3044952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CRM sync — no stale data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080760" y="3383280"/>
            <a:ext cx="2651760" cy="329184"/>
          </a:xfrm>
          <a:prstGeom prst="rect">
            <a:avLst/>
          </a:prstGeom>
          <a:solidFill>
            <a:srgbClr val="1A2535"/>
          </a:solidFill>
          <a:ln w="12700">
            <a:solidFill>
              <a:srgbClr val="2D3748">
                <a:alpha val="4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80760" y="3383280"/>
            <a:ext cx="45720" cy="329184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90488" y="3447288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required for all AI outreach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080760" y="3785616"/>
            <a:ext cx="26517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080760" y="3785616"/>
            <a:ext cx="45720" cy="329184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90488" y="3849624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Customer Success Manager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080760" y="4187952"/>
            <a:ext cx="2651760" cy="329184"/>
          </a:xfrm>
          <a:prstGeom prst="rect">
            <a:avLst/>
          </a:prstGeom>
          <a:solidFill>
            <a:srgbClr val="1A2535"/>
          </a:solidFill>
          <a:ln w="12700">
            <a:solidFill>
              <a:srgbClr val="2D3748">
                <a:alpha val="4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080760" y="4187952"/>
            <a:ext cx="45720" cy="329184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90488" y="4251960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White-glove onboarding — live in 30 days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20040" y="4681728"/>
            <a:ext cx="8503920" cy="274320"/>
          </a:xfrm>
          <a:prstGeom prst="rect">
            <a:avLst/>
          </a:prstGeom>
          <a:solidFill>
            <a:srgbClr val="0D2E2B"/>
          </a:solidFill>
          <a:ln w="12700">
            <a:solidFill>
              <a:srgbClr val="00D4B8">
                <a:alpha val="4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470916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LOOP, ALWAYS:  No AI message reaches a donor without officer review and approval. Orbit amplifies your team — every final call is yours.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D4B8">
              <a:alpha val="35000"/>
            </a:srgbClr>
          </a:solidFill>
          <a:ln w="12700">
            <a:solidFill>
              <a:srgbClr val="00D4B8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Orbit Advancement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22960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-914400"/>
            <a:ext cx="7315200" cy="7315200"/>
          </a:xfrm>
          <a:prstGeom prst="ellipse">
            <a:avLst/>
          </a:prstGeom>
          <a:solidFill>
            <a:srgbClr val="F0B429">
              <a:alpha val="4000"/>
            </a:srgbClr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47472"/>
            <a:ext cx="201168" cy="2286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29260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INVESTMENT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Priced for outcomes,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i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headcount.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per-institution pricing. All four AI agents included at every tier.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938528"/>
            <a:ext cx="2697480" cy="2852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>
                <a:alpha val="42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938528"/>
            <a:ext cx="2697480" cy="64008"/>
          </a:xfrm>
          <a:prstGeom prst="rect">
            <a:avLst/>
          </a:prstGeom>
          <a:solidFill>
            <a:srgbClr val="2D3748">
              <a:alpha val="52000"/>
            </a:srgbClr>
          </a:solidFill>
          <a:ln w="12700">
            <a:solidFill>
              <a:srgbClr val="2D374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" y="2011680"/>
            <a:ext cx="2441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0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8056" y="2249424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0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$499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06424" y="252374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8056" y="2788920"/>
            <a:ext cx="2441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2,500 donors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48056" y="3017520"/>
            <a:ext cx="2441448" cy="9144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" y="3072384"/>
            <a:ext cx="2441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4 AI agents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48056" y="3310128"/>
            <a:ext cx="2441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 CRM integration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8056" y="3547872"/>
            <a:ext cx="2441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Giving day tools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48056" y="3785616"/>
            <a:ext cx="2441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Email + SMS outreach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48056" y="4023360"/>
            <a:ext cx="2441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FERPA compliance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48056" y="4261104"/>
            <a:ext cx="2441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Signal intelligence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48056" y="4498848"/>
            <a:ext cx="2441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White-label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8056" y="4617720"/>
            <a:ext cx="2441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colleges · Community foundations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200400" y="1938528"/>
            <a:ext cx="2697480" cy="2852928"/>
          </a:xfrm>
          <a:prstGeom prst="rect">
            <a:avLst/>
          </a:prstGeom>
          <a:solidFill>
            <a:srgbClr val="0D2E2B"/>
          </a:solidFill>
          <a:ln w="12700">
            <a:solidFill>
              <a:srgbClr val="00D4B8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1938528"/>
            <a:ext cx="2697480" cy="64008"/>
          </a:xfrm>
          <a:prstGeom prst="rect">
            <a:avLst/>
          </a:prstGeom>
          <a:solidFill>
            <a:srgbClr val="00D4B8">
              <a:alpha val="80000"/>
            </a:srgbClr>
          </a:solidFill>
          <a:ln w="12700">
            <a:solidFill>
              <a:srgbClr val="00D4B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22192" y="1856232"/>
            <a:ext cx="1453896" cy="201168"/>
          </a:xfrm>
          <a:prstGeom prst="rect">
            <a:avLst/>
          </a:prstGeom>
          <a:solidFill>
            <a:srgbClr val="00D4B8"/>
          </a:solidFill>
          <a:ln w="12700">
            <a:solidFill>
              <a:srgbClr val="00D4B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22192" y="1865376"/>
            <a:ext cx="1453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A0F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 POPULAR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328416" y="2011680"/>
            <a:ext cx="2441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Growth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28416" y="2249424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$1,299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4315968" y="252374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28416" y="2788920"/>
            <a:ext cx="2441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20,000 donors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328416" y="3017520"/>
            <a:ext cx="2441448" cy="9144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28416" y="3072384"/>
            <a:ext cx="2441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4 AI agents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328416" y="3310128"/>
            <a:ext cx="2441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3 CRM integrations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328416" y="3547872"/>
            <a:ext cx="2441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Signal intelligence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328416" y="3785616"/>
            <a:ext cx="2441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Ask Engine ML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328416" y="4023360"/>
            <a:ext cx="2441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Matching gifts engine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328416" y="4261104"/>
            <a:ext cx="2441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Legacy will builder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328416" y="4498848"/>
            <a:ext cx="2441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White-label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328416" y="4617720"/>
            <a:ext cx="2441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universities · R2 institutions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080760" y="1938528"/>
            <a:ext cx="2697480" cy="2852928"/>
          </a:xfrm>
          <a:prstGeom prst="rect">
            <a:avLst/>
          </a:prstGeom>
          <a:solidFill>
            <a:srgbClr val="111827"/>
          </a:solidFill>
          <a:ln w="12700">
            <a:solidFill>
              <a:srgbClr val="F0B429">
                <a:alpha val="42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80760" y="1938528"/>
            <a:ext cx="2697480" cy="64008"/>
          </a:xfrm>
          <a:prstGeom prst="rect">
            <a:avLst/>
          </a:prstGeom>
          <a:solidFill>
            <a:srgbClr val="F0B429">
              <a:alpha val="52000"/>
            </a:srgbClr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08776" y="2011680"/>
            <a:ext cx="2441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08776" y="2249424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</a:t>
            </a:r>
            <a:endParaRPr lang="en-US" sz="3400" dirty="0"/>
          </a:p>
        </p:txBody>
      </p:sp>
      <p:sp>
        <p:nvSpPr>
          <p:cNvPr id="44" name="Text 42"/>
          <p:cNvSpPr/>
          <p:nvPr/>
        </p:nvSpPr>
        <p:spPr>
          <a:xfrm>
            <a:off x="6208776" y="2788920"/>
            <a:ext cx="2441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20,000+ donors · Multi-campus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208776" y="3017520"/>
            <a:ext cx="2441448" cy="9144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08776" y="3072384"/>
            <a:ext cx="2441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Growth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208776" y="3310128"/>
            <a:ext cx="2441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White-label branding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208776" y="3547872"/>
            <a:ext cx="2441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Multi-tenant / chapters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208776" y="3785616"/>
            <a:ext cx="2441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AI voice training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208776" y="4023360"/>
            <a:ext cx="2441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 CSM + SLA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208776" y="4261104"/>
            <a:ext cx="2441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SSO / SAML + API access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208776" y="4617720"/>
            <a:ext cx="2441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universities · National foundations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20040" y="4828032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plans: 90-day pilot with full data migration · dedicated onboarding · 3× ROI guarantee or money back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D4B8">
              <a:alpha val="35000"/>
            </a:srgbClr>
          </a:solidFill>
          <a:ln w="12700">
            <a:solidFill>
              <a:srgbClr val="00D4B8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Orbit Advancement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22960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7315200" cy="7315200"/>
          </a:xfrm>
          <a:prstGeom prst="ellipse">
            <a:avLst/>
          </a:prstGeom>
          <a:solidFill>
            <a:srgbClr val="10B981">
              <a:alpha val="4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47472"/>
            <a:ext cx="201168" cy="228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29260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GETTING STARTED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in 30 days.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i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Outcomes in 90.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White-glove implementation — your team spends zero time on configuration.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965960"/>
            <a:ext cx="2011680" cy="2423160"/>
          </a:xfrm>
          <a:prstGeom prst="rect">
            <a:avLst/>
          </a:prstGeom>
          <a:solidFill>
            <a:srgbClr val="0A1F15"/>
          </a:solidFill>
          <a:ln w="12700">
            <a:solidFill>
              <a:srgbClr val="10B981">
                <a:alpha val="58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965960"/>
            <a:ext cx="2011680" cy="64008"/>
          </a:xfrm>
          <a:prstGeom prst="rect">
            <a:avLst/>
          </a:prstGeom>
          <a:solidFill>
            <a:srgbClr val="10B981">
              <a:alpha val="78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2057400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 1–7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1792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" y="2615184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connection + data migration. Agent personas configured in your institution's voice. Officer accounts and RBAC set up.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96312" y="1965960"/>
            <a:ext cx="2011680" cy="2423160"/>
          </a:xfrm>
          <a:prstGeom prst="rect">
            <a:avLst/>
          </a:prstGeom>
          <a:solidFill>
            <a:srgbClr val="0D2E2B"/>
          </a:solidFill>
          <a:ln w="12700">
            <a:solidFill>
              <a:srgbClr val="00D4B8">
                <a:alpha val="58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96312" y="1965960"/>
            <a:ext cx="2011680" cy="64008"/>
          </a:xfrm>
          <a:prstGeom prst="rect">
            <a:avLst/>
          </a:prstGeom>
          <a:solidFill>
            <a:srgbClr val="00D4B8">
              <a:alpha val="78000"/>
            </a:srgbClr>
          </a:solidFill>
          <a:ln w="12700">
            <a:solidFill>
              <a:srgbClr val="00D4B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2057400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 8–14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606040" y="2286000"/>
            <a:ext cx="1792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06040" y="2615184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segmentation and agent portfolio assignment. Ask Engine trained on your giving history. Approval workflows configured.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72584" y="1965960"/>
            <a:ext cx="2011680" cy="2423160"/>
          </a:xfrm>
          <a:prstGeom prst="rect">
            <a:avLst/>
          </a:prstGeom>
          <a:solidFill>
            <a:srgbClr val="0C1E2E"/>
          </a:solidFill>
          <a:ln w="12700">
            <a:solidFill>
              <a:srgbClr val="38BDF8">
                <a:alpha val="58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72584" y="1965960"/>
            <a:ext cx="2011680" cy="64008"/>
          </a:xfrm>
          <a:prstGeom prst="rect">
            <a:avLst/>
          </a:prstGeom>
          <a:solidFill>
            <a:srgbClr val="38BDF8">
              <a:alpha val="78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82312" y="2057400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 15–30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82312" y="2286000"/>
            <a:ext cx="1792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Launch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82312" y="2615184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trained live. First AI-drafted communications reviewed and sent. First signal intelligence briefings delivered to your team.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48856" y="1965960"/>
            <a:ext cx="2011680" cy="2423160"/>
          </a:xfrm>
          <a:prstGeom prst="rect">
            <a:avLst/>
          </a:prstGeom>
          <a:solidFill>
            <a:srgbClr val="2E2410"/>
          </a:solidFill>
          <a:ln w="12700">
            <a:solidFill>
              <a:srgbClr val="F0B429">
                <a:alpha val="58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48856" y="1965960"/>
            <a:ext cx="2011680" cy="64008"/>
          </a:xfrm>
          <a:prstGeom prst="rect">
            <a:avLst/>
          </a:prstGeom>
          <a:solidFill>
            <a:srgbClr val="F0B429">
              <a:alpha val="78000"/>
            </a:srgbClr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58584" y="2057400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 31–90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958584" y="2286000"/>
            <a:ext cx="1792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Production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58584" y="2615184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 autonomous. ROI review at Day 60. Full outcomes report to advancement leadership at Day 90 with complete analysis.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2258568"/>
            <a:ext cx="8503920" cy="36576"/>
          </a:xfrm>
          <a:prstGeom prst="rect">
            <a:avLst/>
          </a:prstGeom>
          <a:solidFill>
            <a:srgbClr val="00D4B8">
              <a:alpha val="30000"/>
            </a:srgbClr>
          </a:solidFill>
          <a:ln w="12700">
            <a:solidFill>
              <a:srgbClr val="00D4B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97864" y="2176272"/>
            <a:ext cx="182880" cy="182880"/>
          </a:xfrm>
          <a:prstGeom prst="ellipse">
            <a:avLst/>
          </a:prstGeom>
          <a:solidFill>
            <a:srgbClr val="00D4B8"/>
          </a:solidFill>
          <a:ln w="12700">
            <a:solidFill>
              <a:srgbClr val="00D4B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74136" y="2176272"/>
            <a:ext cx="182880" cy="182880"/>
          </a:xfrm>
          <a:prstGeom prst="ellipse">
            <a:avLst/>
          </a:prstGeom>
          <a:solidFill>
            <a:srgbClr val="00D4B8"/>
          </a:solidFill>
          <a:ln w="12700">
            <a:solidFill>
              <a:srgbClr val="00D4B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50408" y="2176272"/>
            <a:ext cx="182880" cy="182880"/>
          </a:xfrm>
          <a:prstGeom prst="ellipse">
            <a:avLst/>
          </a:prstGeom>
          <a:solidFill>
            <a:srgbClr val="00D4B8"/>
          </a:solidFill>
          <a:ln w="12700">
            <a:solidFill>
              <a:srgbClr val="00D4B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26680" y="2176272"/>
            <a:ext cx="182880" cy="182880"/>
          </a:xfrm>
          <a:prstGeom prst="ellipse">
            <a:avLst/>
          </a:prstGeom>
          <a:solidFill>
            <a:srgbClr val="00D4B8"/>
          </a:solidFill>
          <a:ln w="12700">
            <a:solidFill>
              <a:srgbClr val="00D4B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4480560"/>
            <a:ext cx="8503920" cy="566928"/>
          </a:xfrm>
          <a:prstGeom prst="rect">
            <a:avLst/>
          </a:prstGeom>
          <a:solidFill>
            <a:srgbClr val="0D2E2B"/>
          </a:solidFill>
          <a:ln w="12700">
            <a:solidFill>
              <a:srgbClr val="00D4B8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45079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731520" y="48006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go live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907792" y="45079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2907792" y="48006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resources from your team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084064" y="45079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5084064" y="48006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CSM throughout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260336" y="45079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3×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7260336" y="48006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guaranteed or money back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D4B8">
              <a:alpha val="35000"/>
            </a:srgbClr>
          </a:solidFill>
          <a:ln w="12700">
            <a:solidFill>
              <a:srgbClr val="00D4B8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Orbit Advancement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22960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8229600" cy="8229600"/>
          </a:xfrm>
          <a:prstGeom prst="ellipse">
            <a:avLst/>
          </a:prstGeom>
          <a:solidFill>
            <a:srgbClr val="00D4B8">
              <a:alpha val="5000"/>
            </a:srgbClr>
          </a:solidFill>
          <a:ln w="12700">
            <a:solidFill>
              <a:srgbClr val="00D4B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914400"/>
            <a:ext cx="6400800" cy="6400800"/>
          </a:xfrm>
          <a:prstGeom prst="ellipse">
            <a:avLst/>
          </a:prstGeom>
          <a:solidFill>
            <a:srgbClr val="F0B429">
              <a:alpha val="3000"/>
            </a:srgbClr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603504"/>
            <a:ext cx="201168" cy="22860"/>
          </a:xfrm>
          <a:prstGeom prst="rect">
            <a:avLst/>
          </a:prstGeom>
          <a:solidFill>
            <a:srgbClr val="00D4B8"/>
          </a:solidFill>
          <a:ln w="12700">
            <a:solidFill>
              <a:srgbClr val="00D4B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4912" y="5486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 THE NEXT STEP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day without Orbit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148132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i="1" dirty="0">
                <a:solidFill>
                  <a:srgbClr val="00D4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a donor you didn't reach.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371600" y="22402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90-day pilot. See exactly how many donors your team would reach,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revenue would be generated, and what the AI agents would have done — before you commit.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0" y="2926080"/>
            <a:ext cx="2011680" cy="438912"/>
          </a:xfrm>
          <a:prstGeom prst="rect">
            <a:avLst/>
          </a:prstGeom>
          <a:solidFill>
            <a:srgbClr val="00D4B8"/>
          </a:solidFill>
          <a:ln w="12700">
            <a:solidFill>
              <a:srgbClr val="00D4B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292608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Live Demo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2926080"/>
            <a:ext cx="2011680" cy="438912"/>
          </a:xfrm>
          <a:prstGeom prst="rect">
            <a:avLst/>
          </a:prstGeom>
          <a:solidFill>
            <a:srgbClr val="0A0F1A"/>
          </a:solidFill>
          <a:ln w="12700">
            <a:solidFill>
              <a:srgbClr val="00D4B8">
                <a:alpha val="7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92608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90-Day Pilot →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35844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orbit.ai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8587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available instantly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0" y="3621024"/>
            <a:ext cx="10973" cy="38404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35844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hello@orbit.ai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0440" y="38587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within 2 hours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806440" y="3621024"/>
            <a:ext cx="10973" cy="38404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35844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(617) 555-0190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38587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advancement specialists only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572000"/>
            <a:ext cx="9144000" cy="45720"/>
          </a:xfrm>
          <a:prstGeom prst="rect">
            <a:avLst/>
          </a:prstGeom>
          <a:solidFill>
            <a:srgbClr val="00D4B8">
              <a:alpha val="40000"/>
            </a:srgbClr>
          </a:solidFill>
          <a:ln w="12700">
            <a:solidFill>
              <a:srgbClr val="00D4B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663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· The AI Advancement Platform · Confidential 2026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680960" y="46451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D4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orbit.ai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Orbit — The AI Advancement Platform</dc:title>
  <dc:subject>PptxGenJS Presentation</dc:subject>
  <dc:creator>Orbit Advancement</dc:creator>
  <cp:lastModifiedBy>Orbit Advancement</cp:lastModifiedBy>
  <cp:revision>1</cp:revision>
  <dcterms:created xsi:type="dcterms:W3CDTF">2026-03-08T02:00:55Z</dcterms:created>
  <dcterms:modified xsi:type="dcterms:W3CDTF">2026-03-08T02:00:55Z</dcterms:modified>
</cp:coreProperties>
</file>